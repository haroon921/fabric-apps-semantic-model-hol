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business outcome: move from a governed semantic model to an interactive analytical application that partners can adapt and demonstrate.
[Sources]
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most workshop time is hands-on. The deliverable is an app that uses the semantic model as the calculation and governance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Fabric Apps as complementary to Power BI reports, not a report replacement. Use the app when the user journey requires guided interaction or workflow presentation.
[Sources]
Visual on this slide was generated with Microsoft Copilot.
https://learn.microsoft.com/en-us/fabric/apps/data-apps-template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split of responsibilities. Put measures in the semantic model. Use the application layer for navigation, interaction, and task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data is intentionally synthetic. Partners can swap in their own semantic model later while retaining the app patterns.
[Sources]
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the baseline step. A visually correct app can still be analytically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workbook already contains dimension keys. Participants can use a default semantic model or build an explicit model if the environment allows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exact connector package install command printed by the CLI. Environment-specific values remain placeholders in the public repository.
[Sources]
https://learn.microsoft.com/en-us/fabric/apps/data-apps-template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prompt pack in the repository follows this sequence. The key control is to make the connector schema and validation files the source of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go/no-go gates. If a measure cannot be reconciled, do not mask the discrepancy with client-side calculations.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intentionally avoids a hardcoded price because Azure commercial pricing varies. Show partners the measurement method and official calculator instead.
[Sources]
https://learn.microsoft.com/en-us/fabric/apps/pricing
https://azure.microsoft.com/en-us/pricing/details/microsoft-fabric/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repository is deliberately documentation-first. Partners can clone it, use the included data, and later replace the model without redesigning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APPS • PARTNER HANDS-ON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32520" y="64922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• Synthetic training data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E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rayfin_lab_tmp/repo/docs/visual-semantic-app.png">    </p:cNvPr>
          <p:cNvPicPr>
            <a:picLocks noChangeAspect="1"/>
          </p:cNvPicPr>
          <p:nvPr/>
        </p:nvPicPr>
        <p:blipFill>
          <a:blip r:embed="rId1"/>
          <a:srcRect l="20533" r="20533" t="0" b="0"/>
          <a:stretch/>
        </p:blipFill>
        <p:spPr>
          <a:xfrm>
            <a:off x="6126480" y="0"/>
            <a:ext cx="60624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7142E">
              <a:alpha val="96000"/>
            </a:srgbClr>
          </a:solidFill>
          <a:ln w="12700">
            <a:solidFill>
              <a:srgbClr val="07142E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4300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Fabric Apps (Rayfin)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on a Semantic Model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58368" y="27889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7FE"/>
                </a:solidFill>
              </a:rPr>
              <a:t>Partner hands-on lab • Build a Partner Opportunity Command Center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58368" y="379476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85876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L300 WORKSHOP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68880" y="379476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42032" y="38587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 READY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8368" y="4572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7EC"/>
                </a:solidFill>
              </a:rPr>
              <a:t>Includes presentation, synthetic data, lab guide, Copilot prompts, and pricing guidance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</a:rPr>
              <a:t>Workshop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practical path from data to a governed app experience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993392" cy="3474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73152" cy="347472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158191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Create a reusable semantic model with measures and relationships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6080" y="1645920"/>
            <a:ext cx="1993392" cy="3474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1645920"/>
            <a:ext cx="73152" cy="347472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8288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CONNECT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54680" y="2267712"/>
            <a:ext cx="158191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Add delegated, typed access through the semantic-model connector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0" y="1645920"/>
            <a:ext cx="1993392" cy="3474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0" y="1645920"/>
            <a:ext cx="73152" cy="347472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8288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BUILD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2267712"/>
            <a:ext cx="158191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Use the data app template and Copilot prompts to create interactions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98080" y="1645920"/>
            <a:ext cx="1993392" cy="3474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0" y="1645920"/>
            <a:ext cx="73152" cy="3474720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18288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VALIDATE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6680" y="2267712"/>
            <a:ext cx="158191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Reconcile KPIs, permissions, accessibility, and query behavior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784080" y="1645920"/>
            <a:ext cx="1993392" cy="3474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84080" y="1645920"/>
            <a:ext cx="73152" cy="3474720"/>
          </a:xfrm>
          <a:prstGeom prst="rect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12680" y="182880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PUBLISH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12680" y="2267712"/>
            <a:ext cx="1581912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Deploy as a Fabric item and monitor capacity consumption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</a:rPr>
              <a:t>Why a Fabric App on a semantic model?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Use the semantic layer for trusted logic and the app layer for tailored interaction</a:t>
            </a:r>
            <a:endParaRPr lang="en-US" sz="1250" dirty="0"/>
          </a:p>
        </p:txBody>
      </p:sp>
      <p:pic>
        <p:nvPicPr>
          <p:cNvPr id="4" name="Image 0" descr="/mnt/data/rayfin_lab_tmp/repo/docs/visual-architecture.png">    </p:cNvPr>
          <p:cNvPicPr>
            <a:picLocks noChangeAspect="1"/>
          </p:cNvPicPr>
          <p:nvPr/>
        </p:nvPicPr>
        <p:blipFill>
          <a:blip r:embed="rId1"/>
          <a:srcRect l="8503" r="8503" t="0" b="0"/>
          <a:stretch/>
        </p:blipFill>
        <p:spPr>
          <a:xfrm>
            <a:off x="594360" y="1508760"/>
            <a:ext cx="55778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50876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92240" y="1508760"/>
            <a:ext cx="73152" cy="11430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20840" y="169164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Reuse trusted business logic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20840" y="2130552"/>
            <a:ext cx="46177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Measures, relationships, formatting, and security remain centralized in the semantic model.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92240" y="2816352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816352"/>
            <a:ext cx="73152" cy="114300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299923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Go beyond a report canvas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20840" y="3438144"/>
            <a:ext cx="46177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Create workflows, custom navigation, guided exploration, and task-oriented experiences.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92240" y="4123944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92240" y="4123944"/>
            <a:ext cx="73152" cy="114300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430682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Keep identity delegated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20840" y="4745736"/>
            <a:ext cx="46177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app connects under the signed-in user and respects access to the underlying model.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</a:rPr>
              <a:t>Reference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app experience is separate from the governed analytical contract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670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Excel / CSV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2697480"/>
            <a:ext cx="411480" cy="411480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233172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2670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Lakehouse 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Warehouse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2697480"/>
            <a:ext cx="411480" cy="411480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233172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6B4EFF"/>
          </a:solidFill>
          <a:ln w="19050">
            <a:solidFill>
              <a:srgbClr val="6B4EFF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40680" y="2670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Semantic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2697480"/>
            <a:ext cx="411480" cy="411480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233172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12B5CB"/>
          </a:solidFill>
          <a:ln w="19050">
            <a:solidFill>
              <a:srgbClr val="12B5CB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2670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Fabric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(Rayfin)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72600" y="2697480"/>
            <a:ext cx="411480" cy="411480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21240" y="233172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12680" y="2670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Partner users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30368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EFF"/>
                </a:solidFill>
              </a:rPr>
              <a:t>Business logic + security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3794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B5CB"/>
                </a:solidFill>
              </a:rPr>
              <a:t>Interaction + workflow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</a:rPr>
              <a:t>Lab scenario and sample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Partner Opportunity Command Center</a:t>
            </a:r>
            <a:endParaRPr lang="en-US" sz="1250" dirty="0"/>
          </a:p>
        </p:txBody>
      </p:sp>
      <p:pic>
        <p:nvPicPr>
          <p:cNvPr id="4" name="Image 0" descr="/mnt/data/rayfin_lab_tmp/repo/docs/visual-workshop.png">    </p:cNvPr>
          <p:cNvPicPr>
            <a:picLocks noChangeAspect="1"/>
          </p:cNvPicPr>
          <p:nvPr/>
        </p:nvPicPr>
        <p:blipFill>
          <a:blip r:embed="rId1"/>
          <a:srcRect l="15064" r="15064" t="0" b="0"/>
          <a:stretch/>
        </p:blipFill>
        <p:spPr>
          <a:xfrm>
            <a:off x="594360" y="1417320"/>
            <a:ext cx="498348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7880" y="14173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97880" y="1417320"/>
            <a:ext cx="73152" cy="132588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600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240 synthetic opportunities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26480" y="2039112"/>
            <a:ext cx="2194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Five regions, five partners, four solution areas, five stages, and delivery health.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732520" y="14173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32520" y="1417320"/>
            <a:ext cx="73152" cy="132588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0" y="1600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Star-schema friendly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61120" y="2039112"/>
            <a:ext cx="2194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FactOpportunities with Region, Partner, and Solution dimensions.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97880" y="30175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97880" y="3017520"/>
            <a:ext cx="73152" cy="132588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3200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Business metrics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26480" y="3639312"/>
            <a:ext cx="2194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Total ACR, Won ACR, opportunity count, win rate, and average ACR.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732520" y="30175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732520" y="3017520"/>
            <a:ext cx="73152" cy="1325880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61120" y="3200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App interactions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961120" y="3639312"/>
            <a:ext cx="2194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Filters, ranking, stage funnel, detail grid, and selected-opportunity panel.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897880" y="489204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9009"/>
                </a:solidFill>
              </a:rPr>
              <a:t>Training data only • Safe to publish in a public demo repository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</a:rPr>
              <a:t>Hands-on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Five build stages with explicit validation gates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280160" y="1600200"/>
            <a:ext cx="621792" cy="621792"/>
          </a:xfrm>
          <a:prstGeom prst="ellipse">
            <a:avLst/>
          </a:prstGeom>
          <a:solidFill>
            <a:srgbClr val="0F6CB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7373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Prepare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1828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Load the workbook and create relationships + measures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06040" y="1737360"/>
            <a:ext cx="320040" cy="32004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600200"/>
            <a:ext cx="621792" cy="621792"/>
          </a:xfrm>
          <a:prstGeom prst="ellipse">
            <a:avLst/>
          </a:prstGeom>
          <a:solidFill>
            <a:srgbClr val="6B4E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7373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180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Baseline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71800" y="2926080"/>
            <a:ext cx="1828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Build a simple report and capture expected KPI totals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92040" y="1737360"/>
            <a:ext cx="320040" cy="32004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600200"/>
            <a:ext cx="621792" cy="621792"/>
          </a:xfrm>
          <a:prstGeom prst="ellipse">
            <a:avLst/>
          </a:prstGeom>
          <a:solidFill>
            <a:srgbClr val="12B5C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7373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Scaffold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2926080"/>
            <a:ext cx="1828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Create the data app template and add the connector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78040" y="1737360"/>
            <a:ext cx="320040" cy="32004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600200"/>
            <a:ext cx="621792" cy="621792"/>
          </a:xfrm>
          <a:prstGeom prst="ellipse">
            <a:avLst/>
          </a:prstGeom>
          <a:solidFill>
            <a:srgbClr val="12B7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7373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4380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Build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43800" y="2926080"/>
            <a:ext cx="1828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Generate overview, filters, visuals, and detail experience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64040" y="1737360"/>
            <a:ext cx="320040" cy="32004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0" y="1600200"/>
            <a:ext cx="621792" cy="621792"/>
          </a:xfrm>
          <a:prstGeom prst="ellipse">
            <a:avLst/>
          </a:prstGeom>
          <a:solidFill>
            <a:srgbClr val="F7900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0" y="17373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2980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Validate + publish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29800" y="2926080"/>
            <a:ext cx="1828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Reconcile results, test access, deploy, and monitor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</a:rPr>
              <a:t>Create the semantic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Recommended relationships and measures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Relationships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FactOpportunities[RegionID] → DimRegion[RegionID]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FactOpportunities[PartnerID] → DimPartner[PartnerID]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FactOpportunities[SolutionID] → DimSolution[SolutionID]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5216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Measures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0" y="1920240"/>
            <a:ext cx="5303520" cy="384048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ACR = SUM(ACR_USD)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0" y="2487168"/>
            <a:ext cx="5303520" cy="384048"/>
          </a:xfrm>
          <a:prstGeom prst="rect">
            <a:avLst/>
          </a:prstGeom>
          <a:solidFill>
            <a:srgbClr val="F9FAFB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Opportunity Count = DISTINCTCOUNT(OpportunityID)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0" y="3054096"/>
            <a:ext cx="5303520" cy="384048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Won ACR = CALCULATE([Total ACR], Stage = "Won")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0" y="3621024"/>
            <a:ext cx="5303520" cy="384048"/>
          </a:xfrm>
          <a:prstGeom prst="rect">
            <a:avLst/>
          </a:prstGeom>
          <a:solidFill>
            <a:srgbClr val="F9FAFB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Rate = DIVIDE([Won Opportunities], [Opportunity Count])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0" y="4187952"/>
            <a:ext cx="5303520" cy="384048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ACR = DIVIDE([Total ACR], [Opportunity Count])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CBD"/>
                </a:solidFill>
              </a:rPr>
              <a:t>Design rule: the semantic model owns calculations; the app owns interaction.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</a:rPr>
              <a:t>Scaffold and connect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Use the supported data app template and semantic-model connector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6949440" cy="4434840"/>
          </a:xfrm>
          <a:prstGeom prst="roundRect">
            <a:avLst>
              <a:gd name="adj" fmla="val 1031"/>
            </a:avLst>
          </a:prstGeom>
          <a:solidFill>
            <a:srgbClr val="111827"/>
          </a:solidFill>
          <a:ln w="12700">
            <a:solidFill>
              <a:srgbClr val="3440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6492240" cy="3886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@microsoft/rayfin@latest -- "partner-opportunity-command-center"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--template dataapp --workspace "{WORKSPACE_NAME}"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partner-opportunity-command-center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rayfin connector search --workspace-id "{WORKSPACE_ID}"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--type fabric-semanticmodel --json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rayfin connector add --type fabric-semanticmodel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--workspace-id "{WORKSPACE_ID}" --item-id "{MODEL_ITEM_ID}"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opportunityModel --operations executeQuery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955280" y="141732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0" y="1417320"/>
            <a:ext cx="73152" cy="123444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1600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Prerequisites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83880" y="2039112"/>
            <a:ext cx="3063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Node.js 20+, Fabric access, workspace role, Fabric Apps enabled, Execute Queries setting, Build + Read permission.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28803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955280" y="2880360"/>
            <a:ext cx="73152" cy="12344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306324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Connector outcome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83880" y="3502152"/>
            <a:ext cx="3063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Configuration, generated schema, and delegated executeQuery access.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434340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4343400"/>
            <a:ext cx="73152" cy="1234440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45262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Security posture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3880" y="4965192"/>
            <a:ext cx="3063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Do not commit workspace IDs, tenant values, tokens, or local environment files.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</a:rPr>
              <a:t>Copilot build sequence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Prompt for facts first, then layout, then interaction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566928"/>
          </a:xfrm>
          <a:prstGeom prst="roundRect">
            <a:avLst>
              <a:gd name="adj" fmla="val 8065"/>
            </a:avLst>
          </a:prstGeom>
          <a:solidFill>
            <a:srgbClr val="EEF2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544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CBD"/>
                </a:solidFill>
              </a:rPr>
              <a:t>1. Inventory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60320" y="1554480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01828"/>
                </a:solidFill>
              </a:rPr>
              <a:t>Inspect connector schema; write data-connections.md; do not invent fields.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731520" y="2167128"/>
            <a:ext cx="10698480" cy="566928"/>
          </a:xfrm>
          <a:prstGeom prst="roundRect">
            <a:avLst>
              <a:gd name="adj" fmla="val 8065"/>
            </a:avLst>
          </a:prstGeom>
          <a:solidFill>
            <a:srgbClr val="F9FA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042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EFF"/>
                </a:solidFill>
              </a:rPr>
              <a:t>2. App shell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60320" y="2304288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01828"/>
                </a:solidFill>
              </a:rPr>
              <a:t>Create Overview, Partners, Opportunities, and Data Quality navigation.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31520" y="2916936"/>
            <a:ext cx="10698480" cy="566928"/>
          </a:xfrm>
          <a:prstGeom prst="roundRect">
            <a:avLst>
              <a:gd name="adj" fmla="val 8065"/>
            </a:avLst>
          </a:prstGeom>
          <a:solidFill>
            <a:srgbClr val="EEF2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0540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B5CB"/>
                </a:solidFill>
              </a:rPr>
              <a:t>3. KPI layer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60320" y="3054096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01828"/>
                </a:solidFill>
              </a:rPr>
              <a:t>Render semantic-model measures and filter contracts.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31520" y="3666744"/>
            <a:ext cx="10698480" cy="566928"/>
          </a:xfrm>
          <a:prstGeom prst="roundRect">
            <a:avLst>
              <a:gd name="adj" fmla="val 8065"/>
            </a:avLst>
          </a:prstGeom>
          <a:solidFill>
            <a:srgbClr val="F9FA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8039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B76A"/>
                </a:solidFill>
              </a:rPr>
              <a:t>4. Analytical views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60320" y="3803904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01828"/>
                </a:solidFill>
              </a:rPr>
              <a:t>Add stage funnel, regional comparison, partner ranking, solution mix.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31520" y="4416552"/>
            <a:ext cx="10698480" cy="566928"/>
          </a:xfrm>
          <a:prstGeom prst="roundRect">
            <a:avLst>
              <a:gd name="adj" fmla="val 8065"/>
            </a:avLst>
          </a:prstGeom>
          <a:solidFill>
            <a:srgbClr val="EEF2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537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9009"/>
                </a:solidFill>
              </a:rPr>
              <a:t>5. Detail flow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60320" y="4553712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01828"/>
                </a:solidFill>
              </a:rPr>
              <a:t>Add searchable grid and selected-opportunity side panel.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31520" y="5166360"/>
            <a:ext cx="10698480" cy="566928"/>
          </a:xfrm>
          <a:prstGeom prst="roundRect">
            <a:avLst>
              <a:gd name="adj" fmla="val 8065"/>
            </a:avLst>
          </a:prstGeom>
          <a:solidFill>
            <a:srgbClr val="F9FA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303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4438"/>
                </a:solidFill>
              </a:rPr>
              <a:t>6. Validation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560320" y="5303520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01828"/>
                </a:solidFill>
              </a:rPr>
              <a:t>Compare every result with the semantic-model baseline and expose failures.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</a:rPr>
              <a:t>Validation gates before publishing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demo is only credible when numbers, access, and failure states are proven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169164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Analytical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39112"/>
            <a:ext cx="3017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Every KPI reconciles to the Power BI or semantic-model baseline.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417320"/>
            <a:ext cx="73152" cy="169164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600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Filter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2039112"/>
            <a:ext cx="3017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Single and combined filters return expected values.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417320"/>
            <a:ext cx="73152" cy="16916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600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Access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2039112"/>
            <a:ext cx="3017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Test an authorized user and a user without underlying model access.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5661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49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UX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187952"/>
            <a:ext cx="3017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Keyboard, contrast, responsive layout, loading, empty, and error states.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35661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3566160"/>
            <a:ext cx="73152" cy="1691640"/>
          </a:xfrm>
          <a:prstGeom prst="rect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749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Repository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4187952"/>
            <a:ext cx="3017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No secrets, IDs, local settings, or customer data committed.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75320" y="35661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3749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Capacity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03920" y="4187952"/>
            <a:ext cx="3017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Review item and operation usage in the Capacity Metrics app.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</a:rPr>
              <a:t>Pricing 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Price the Fabric capacity and observed usage, not the app as a fixed unit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338328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What is billed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39112"/>
            <a:ext cx="301752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Fabric Apps run on Fabric capacity. Child-service operations consume CUs. Microsoft documents consumption across SQL Database, GraphQL API, User Data Functions, and OneLake operations.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417320"/>
            <a:ext cx="73152" cy="3383280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00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How to estimate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039112"/>
            <a:ext cx="301752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Run a controlled lab, capture item-level activity in the Fabric Capacity Metrics app, and translate the selected SKU and region through the Azure pricing calculator.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338328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00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Commercial guidance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039112"/>
            <a:ext cx="301752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Do not quote a fixed per-app amount. Cost varies by agreement, region, capacity, storage, and usage. Reservations may save about 41% versus pay-as-you-go.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97280" y="52578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Recommended partner message: “Start on assigned capacity, measure the app, then size and optimize.”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8"/>
                </a:solidFill>
              </a:rPr>
              <a:t>GitHub-ready repository 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Everything needed to teach, build, validate, and extend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572768"/>
            <a:ext cx="4937760" cy="4279392"/>
          </a:xfrm>
          <a:prstGeom prst="roundRect">
            <a:avLst>
              <a:gd name="adj" fmla="val 1068"/>
            </a:avLst>
          </a:prstGeom>
          <a:solidFill>
            <a:srgbClr val="111827"/>
          </a:solidFill>
          <a:ln w="12700">
            <a:solidFill>
              <a:srgbClr val="3440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10512"/>
            <a:ext cx="438912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fabric-apps-semantic-model-hol/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LICENSE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Fabric-Apps-Semantic-Model-HOL.pptx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sample-data/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partner-opportunity-sample.xlsx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fact-opportunities.csv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LAB_GUIDE.md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PRICING.md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visual-*.png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prompts/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copilot-prompts.md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72768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0" y="1572768"/>
            <a:ext cx="73152" cy="1143000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7556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Publish safely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63640" y="2194560"/>
            <a:ext cx="4892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Keep the data synthetic and remove environment-specific IDs and secrets.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2907792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0" y="2907792"/>
            <a:ext cx="73152" cy="1143000"/>
          </a:xfrm>
          <a:prstGeom prst="rect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309067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Partner customization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3529584"/>
            <a:ext cx="4892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Replace the sample semantic model while retaining the interaction, validation, and cost patterns.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4242816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889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4242816"/>
            <a:ext cx="73152" cy="1143000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442569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Suggested demo close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4864608"/>
            <a:ext cx="4892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Show the same trusted measures in Power BI and the app, then demonstrate the app-specific guided workflow.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 Apps (Rayfin) on a Semantic Model</dc:title>
  <dc:subject>Partner hands-on lab</dc:subject>
  <dc:creator>Haroon Rashid</dc:creator>
  <cp:lastModifiedBy>Haroon Rashid</cp:lastModifiedBy>
  <cp:revision>1</cp:revision>
  <dcterms:created xsi:type="dcterms:W3CDTF">2026-10-07T17:07:09Z</dcterms:created>
  <dcterms:modified xsi:type="dcterms:W3CDTF">2026-10-07T17:07:09Z</dcterms:modified>
</cp:coreProperties>
</file>